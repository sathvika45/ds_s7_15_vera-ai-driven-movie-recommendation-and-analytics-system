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904" r:id="rId10"/>
    <p:sldId id="905" r:id="rId11"/>
    <p:sldId id="260" r:id="rId12"/>
    <p:sldId id="90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hvika Reddy" userId="afb8c004f0145ccf" providerId="LiveId" clId="{ECCC8EDA-64E4-4A96-B478-ECCCA8D26B96}"/>
    <pc:docChg chg="undo custSel addSld delSld modSld">
      <pc:chgData name="Sathvika Reddy" userId="afb8c004f0145ccf" providerId="LiveId" clId="{ECCC8EDA-64E4-4A96-B478-ECCCA8D26B96}" dt="2026-09-24T05:46:04.130" v="98"/>
      <pc:docMkLst>
        <pc:docMk/>
      </pc:docMkLst>
      <pc:sldChg chg="delSp modSp mod">
        <pc:chgData name="Sathvika Reddy" userId="afb8c004f0145ccf" providerId="LiveId" clId="{ECCC8EDA-64E4-4A96-B478-ECCCA8D26B96}" dt="2026-09-24T05:46:04.130" v="98"/>
        <pc:sldMkLst>
          <pc:docMk/>
          <pc:sldMk cId="2247602601" sldId="262"/>
        </pc:sldMkLst>
        <pc:spChg chg="del mod">
          <ac:chgData name="Sathvika Reddy" userId="afb8c004f0145ccf" providerId="LiveId" clId="{ECCC8EDA-64E4-4A96-B478-ECCCA8D26B96}" dt="2026-09-24T05:46:04.130" v="98"/>
          <ac:spMkLst>
            <pc:docMk/>
            <pc:sldMk cId="2247602601" sldId="262"/>
            <ac:spMk id="16" creationId="{500C0830-A1CA-96AE-68D2-18C57ABE4802}"/>
          </ac:spMkLst>
        </pc:spChg>
      </pc:sldChg>
      <pc:sldChg chg="delSp mod">
        <pc:chgData name="Sathvika Reddy" userId="afb8c004f0145ccf" providerId="LiveId" clId="{ECCC8EDA-64E4-4A96-B478-ECCCA8D26B96}" dt="2026-09-18T03:37:41.495" v="72" actId="478"/>
        <pc:sldMkLst>
          <pc:docMk/>
          <pc:sldMk cId="2747969496" sldId="707"/>
        </pc:sldMkLst>
      </pc:sldChg>
      <pc:sldChg chg="delSp modSp mod">
        <pc:chgData name="Sathvika Reddy" userId="afb8c004f0145ccf" providerId="LiveId" clId="{ECCC8EDA-64E4-4A96-B478-ECCCA8D26B96}" dt="2026-09-18T03:54:11.777" v="95" actId="20577"/>
        <pc:sldMkLst>
          <pc:docMk/>
          <pc:sldMk cId="3029277067" sldId="902"/>
        </pc:sldMkLst>
        <pc:graphicFrameChg chg="modGraphic">
          <ac:chgData name="Sathvika Reddy" userId="afb8c004f0145ccf" providerId="LiveId" clId="{ECCC8EDA-64E4-4A96-B478-ECCCA8D26B96}" dt="2026-09-18T03:54:11.777" v="95" actId="20577"/>
          <ac:graphicFrameMkLst>
            <pc:docMk/>
            <pc:sldMk cId="3029277067" sldId="902"/>
            <ac:graphicFrameMk id="4" creationId="{AACD11AD-3AF5-B626-2B60-0567E4585BB7}"/>
          </ac:graphicFrameMkLst>
        </pc:graphicFrameChg>
      </pc:sldChg>
      <pc:sldChg chg="addSp delSp modSp new mod">
        <pc:chgData name="Sathvika Reddy" userId="afb8c004f0145ccf" providerId="LiveId" clId="{ECCC8EDA-64E4-4A96-B478-ECCCA8D26B96}" dt="2026-09-18T03:35:33.016" v="68" actId="14100"/>
        <pc:sldMkLst>
          <pc:docMk/>
          <pc:sldMk cId="3421592770" sldId="906"/>
        </pc:sldMkLst>
        <pc:spChg chg="mod">
          <ac:chgData name="Sathvika Reddy" userId="afb8c004f0145ccf" providerId="LiveId" clId="{ECCC8EDA-64E4-4A96-B478-ECCCA8D26B96}" dt="2026-09-18T03:31:43.426" v="53" actId="14100"/>
          <ac:spMkLst>
            <pc:docMk/>
            <pc:sldMk cId="3421592770" sldId="906"/>
            <ac:spMk id="2" creationId="{FE51D72D-D58F-A9D2-CA21-8A363D25A290}"/>
          </ac:spMkLst>
        </pc:spChg>
        <pc:picChg chg="add mod">
          <ac:chgData name="Sathvika Reddy" userId="afb8c004f0145ccf" providerId="LiveId" clId="{ECCC8EDA-64E4-4A96-B478-ECCCA8D26B96}" dt="2026-09-18T03:35:33.016" v="68" actId="14100"/>
          <ac:picMkLst>
            <pc:docMk/>
            <pc:sldMk cId="3421592770" sldId="906"/>
            <ac:picMk id="6" creationId="{55441579-5980-3DE3-6C1A-6C0784846FDB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009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Kayenat Zabeen-2420030492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Nakshitha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P        -2420030025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Sathvika P           -2420030654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Mrs. B Prathusha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Guide,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VERA – AI-Driven Movie Recommendation and Analytics System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(24AD3107)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Content Box"/>
          <p:cNvSpPr txBox="1"/>
          <p:nvPr/>
        </p:nvSpPr>
        <p:spPr>
          <a:xfrm>
            <a:off x="706000" y="1450000"/>
            <a:ext cx="1078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Streaming catalogs now hold tens of thousands of titles, making it hard for users to find movies that truly match their taste.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Most recommender systems optimize for prediction accuracy or popularity, so results feel repetitive and predictable.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Context that strongly influences what a person wants to watch — their current mood and how much time they have — is largely ignored.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Recommendations are typically a black box: users are not told why a movie was suggested, which limits trust.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There is a need for a system that balances relevance with novelty, diversity and serendipity while staying context-aware and explainable.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Content Box"/>
          <p:cNvSpPr txBox="1"/>
          <p:nvPr/>
        </p:nvSpPr>
        <p:spPr>
          <a:xfrm>
            <a:off x="706000" y="1450000"/>
            <a:ext cx="1078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Design a hybrid recommendation engine that combines content-based filtering (genres, keywords, cast, crew) with collaborative filtering (ratings, viewing history).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Introduce novelty, diversity and serendipity into ranking and re-ranking so recommendations avoid repetitive, over-popular titles.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Enable mood-based and time-aware filtering so suggestions match how the user feels and how much time they have available.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Provide an optional SHAP-based explanation layer so users can see why a specific movie was recommended.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Build a feedback loop that learns from user interactions (likes, skips, watches) to continuously refine future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7388798"/>
              </p:ext>
            </p:extLst>
          </p:nvPr>
        </p:nvGraphicFramePr>
        <p:xfrm>
          <a:off x="274646" y="689466"/>
          <a:ext cx="11642705" cy="522663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latin typeface="Calibri" panose="020F0502020204030204"/>
                        </a:rPr>
                        <a:t>Melville, Mooney &amp; Nagarajan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latin typeface="Calibri" panose="020F0502020204030204"/>
                        </a:rPr>
                        <a:t>Content-Boosted Collaborative Filtering for Improved 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libri" panose="020F0502020204030204"/>
                        </a:rPr>
                        <a:t>Uses a content-based predictor to fill in missing ratings in the user-item matrix, then applies collaborative filtering on the enhanced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libri" panose="020F0502020204030204"/>
                        </a:rPr>
                        <a:t>Hybridizing content-based and collaborative filtering improves accuracy over either method alone</a:t>
                      </a:r>
                    </a:p>
                    <a:p>
                      <a:pPr marL="171450" marR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libri" panose="020F0502020204030204"/>
                        </a:rPr>
                        <a:t>Reduces cold-start and sparsity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libri" panose="020F0502020204030204"/>
                        </a:rPr>
                        <a:t>Does not consider contextual factors like mood, time, or explanation of 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latin typeface="Calibri" panose="020F0502020204030204"/>
                        </a:rPr>
                        <a:t>Nair &amp; Preethi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latin typeface="Calibri" panose="020F0502020204030204"/>
                        </a:rPr>
                        <a:t>A Pragmatic Study on Movie Recommender Systems Using Hybrid Collaborative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libri" panose="020F0502020204030204"/>
                        </a:rPr>
                        <a:t>Reviews content-based, collaborative and hybrid (deep learning + KNN) approaches for movie 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libri" panose="020F0502020204030204"/>
                        </a:rPr>
                        <a:t>Hybrid collaborative filtering with deep learning reduces cold-start, first-rater and gray-sheep problems better than single approaches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libri" panose="020F0502020204030204"/>
                        </a:rPr>
                        <a:t>Focuses only on rating-prediction accuracy; diversity, novelty and explainability are not addressed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latin typeface="Calibri" panose="020F0502020204030204"/>
                        </a:rPr>
                        <a:t>Kaminskas &amp; Bridge (2016); Kotkov et al.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latin typeface="Calibri" panose="020F0502020204030204"/>
                        </a:rPr>
                        <a:t>Beyond-accuracy objectives: Diversity, Novelty, Coverage and Serendipity in Recommender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libri" panose="020F0502020204030204"/>
                        </a:rPr>
                        <a:t>Surveys definitions and computational models for novelty, diversity, coverage and serendipity beyond rating-accuracy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libri" panose="020F0502020204030204"/>
                        </a:rPr>
                        <a:t>Optimizing purely for accuracy leads to repetitive, over-popular recommendations</a:t>
                      </a:r>
                    </a:p>
                    <a:p>
                      <a:pPr marL="171450" marR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libri" panose="020F0502020204030204"/>
                        </a:rPr>
                        <a:t>Re-ranking strategies can balance relevance with serendipitous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libri" panose="020F0502020204030204"/>
                        </a:rPr>
                        <a:t>Serendipity remains hard to quantify and there is no universally agreed evaluation metric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46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latin typeface="Calibri" panose="020F0502020204030204"/>
                        </a:rPr>
                        <a:t>Winoto &amp; Tang (Expert Systems with Applications, ); Wakil et al. </a:t>
                      </a:r>
                      <a:r>
                        <a:rPr lang="en-US" sz="1200">
                          <a:latin typeface="Calibri" panose="020F0502020204030204"/>
                        </a:rPr>
                        <a:t>(IJACSA)</a:t>
                      </a:r>
                      <a:endParaRPr lang="en-US" sz="1200" dirty="0"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latin typeface="Calibri" panose="020F0502020204030204"/>
                        </a:rPr>
                        <a:t>The Role of User Mood in Movie Recommendations / Improving Web Movie Recommender Systems Based on Emotions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libri" panose="020F0502020204030204"/>
                        </a:rPr>
                        <a:t>Injects user mood into a collaborative-filtering pipeline; combines emotion detection with content-based and collaborative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libri" panose="020F0502020204030204"/>
                        </a:rPr>
                        <a:t>Mood-aware recommendation outperforms mood-agnostic collaborative filtering</a:t>
                      </a:r>
                    </a:p>
                    <a:p>
                      <a:pPr marL="171450" marR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libri" panose="020F0502020204030204"/>
                        </a:rPr>
                        <a:t>Emotional context significantly changes which movies users prefer at a given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libri" panose="020F0502020204030204"/>
                        </a:rPr>
                        <a:t>Mood detection relies on limited self-reported or textual cues; does not consider available viewing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Content Box"/>
          <p:cNvSpPr txBox="1"/>
          <p:nvPr/>
        </p:nvSpPr>
        <p:spPr>
          <a:xfrm>
            <a:off x="706000" y="1550000"/>
            <a:ext cx="10780000" cy="4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Content-based and collaborative filtering methods individually suffer from cold-start, sparsity and over-specialization problems.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Existing hybrid systems mainly optimize rating-prediction accuracy and rarely balance it with novelty, diversity or serendipity together.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Very few movie recommenders factor in real-time context such as the user's mood or the time they have available to watch.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Explainability is largely missing — most systems recommend without revealing the reasoning, which reduces user trust and engagement.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VERA addresses these gaps together in one pipeline: hybrid filtering + beyond-accuracy re-ranking + mood/time awareness + SHAP explanations + feedback-driven learning.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Content Box"/>
          <p:cNvSpPr txBox="1"/>
          <p:nvPr/>
        </p:nvSpPr>
        <p:spPr>
          <a:xfrm>
            <a:off x="706000" y="1650000"/>
            <a:ext cx="10780000" cy="4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Mood-aware recommendations: users can ask for movies that match an experience — happy, emotional, thrilling or relaxing — not just their historical taste.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Time-aware filtering: recommendations are adjusted to the runtime the user can actually spare, something most recommenders ignore.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Re-ranking for novelty, diversity and serendipity: VERA deliberately surfaces well-matched but less-obvious titles instead of only the most popular ones.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Explainable AI with SHAP: an optional “Why was this recommended?” view builds transparency and trust that typical black-box recommenders lack.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900" dirty="0">
                <a:latin typeface="Calibri" panose="020F0502020204030204"/>
              </a:rPr>
              <a:t>A closed feedback loop lets the system keep learning from user reactions, so recommendation quality improves over time.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Project Workflow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2" name="Workflow Box"/>
          <p:cNvSpPr txBox="1"/>
          <p:nvPr/>
        </p:nvSpPr>
        <p:spPr>
          <a:xfrm>
            <a:off x="706000" y="1400000"/>
            <a:ext cx="10780000" cy="5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70C0"/>
                </a:solidFill>
                <a:latin typeface="Calibri" panose="020F0502020204030204"/>
              </a:rPr>
              <a:t>1. User Input — </a:t>
            </a:r>
            <a:r>
              <a:rPr lang="en-US" sz="1500" dirty="0">
                <a:latin typeface="Calibri" panose="020F0502020204030204"/>
              </a:rPr>
              <a:t>user provides preferences, ratings, viewing history, mood and available time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70C0"/>
                </a:solidFill>
                <a:latin typeface="Calibri" panose="020F0502020204030204"/>
              </a:rPr>
              <a:t>2. Data Collection &amp; Preprocessing — </a:t>
            </a:r>
            <a:r>
              <a:rPr lang="en-US" sz="1500" dirty="0">
                <a:latin typeface="Calibri" panose="020F0502020204030204"/>
              </a:rPr>
              <a:t>movie details and user interaction data are gathered and cleaned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70C0"/>
                </a:solidFill>
                <a:latin typeface="Calibri" panose="020F0502020204030204"/>
              </a:rPr>
              <a:t>3. Candidate Generation — </a:t>
            </a:r>
            <a:r>
              <a:rPr lang="en-US" sz="1500" dirty="0">
                <a:latin typeface="Calibri" panose="020F0502020204030204"/>
              </a:rPr>
              <a:t>content-based and collaborative filtering generate potential movies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70C0"/>
                </a:solidFill>
                <a:latin typeface="Calibri" panose="020F0502020204030204"/>
              </a:rPr>
              <a:t>4. Intelligent Ranking — </a:t>
            </a:r>
            <a:r>
              <a:rPr lang="en-US" sz="1500" dirty="0">
                <a:latin typeface="Calibri" panose="020F0502020204030204"/>
              </a:rPr>
              <a:t>candidate movies are scored and ranked by relevance to the user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70C0"/>
                </a:solidFill>
                <a:latin typeface="Calibri" panose="020F0502020204030204"/>
              </a:rPr>
              <a:t>5. Re-Ranking &amp; Personalization — </a:t>
            </a:r>
            <a:r>
              <a:rPr lang="en-US" sz="1500" dirty="0">
                <a:latin typeface="Calibri" panose="020F0502020204030204"/>
              </a:rPr>
              <a:t>results are balanced across relevance, novelty, diversity, serendipity, mood and time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70C0"/>
                </a:solidFill>
                <a:latin typeface="Calibri" panose="020F0502020204030204"/>
              </a:rPr>
              <a:t>6. Final Recommendations — </a:t>
            </a:r>
            <a:r>
              <a:rPr lang="en-US" sz="1500" dirty="0">
                <a:latin typeface="Calibri" panose="020F0502020204030204"/>
              </a:rPr>
              <a:t>VERA presents a personalized, ranked list of movies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70C0"/>
                </a:solidFill>
                <a:latin typeface="Calibri" panose="020F0502020204030204"/>
              </a:rPr>
              <a:t>7. Optional Explanation — </a:t>
            </a:r>
            <a:r>
              <a:rPr lang="en-US" sz="1500" dirty="0">
                <a:latin typeface="Calibri" panose="020F0502020204030204"/>
              </a:rPr>
              <a:t>user can ask “Why was this recommended?” and SHAP provides the reasoning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70C0"/>
                </a:solidFill>
                <a:latin typeface="Calibri" panose="020F0502020204030204"/>
              </a:rPr>
              <a:t>8. Feedback &amp; Learning — </a:t>
            </a:r>
            <a:r>
              <a:rPr lang="en-US" sz="1500" dirty="0">
                <a:latin typeface="Calibri" panose="020F0502020204030204"/>
              </a:rPr>
              <a:t>user feedback is captured and used to improve future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Key Features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2" name="Features Box"/>
          <p:cNvSpPr txBox="1"/>
          <p:nvPr/>
        </p:nvSpPr>
        <p:spPr>
          <a:xfrm>
            <a:off x="706000" y="1400000"/>
            <a:ext cx="10780000" cy="51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70C0"/>
                </a:solidFill>
                <a:latin typeface="Calibri" panose="020F0502020204030204"/>
              </a:rPr>
              <a:t>Personalized Hybrid Recommendations: </a:t>
            </a:r>
            <a:r>
              <a:rPr lang="en-US" sz="1500" dirty="0">
                <a:latin typeface="Calibri" panose="020F0502020204030204"/>
              </a:rPr>
              <a:t>combines content-based and collaborative filtering using preferences, ratings, history, genres, actors and directors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70C0"/>
                </a:solidFill>
                <a:latin typeface="Calibri" panose="020F0502020204030204"/>
              </a:rPr>
              <a:t>Novelty, Diversity &amp; Serendipity: </a:t>
            </a:r>
            <a:r>
              <a:rPr lang="en-US" sz="1500" dirty="0">
                <a:latin typeface="Calibri" panose="020F0502020204030204"/>
              </a:rPr>
              <a:t>discovers unseen, less-popular movies and reduces repetitive suggestions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70C0"/>
                </a:solidFill>
                <a:latin typeface="Calibri" panose="020F0502020204030204"/>
              </a:rPr>
              <a:t>Mood-Based Recommendations: </a:t>
            </a:r>
            <a:r>
              <a:rPr lang="en-US" sz="1500" dirty="0">
                <a:latin typeface="Calibri" panose="020F0502020204030204"/>
              </a:rPr>
              <a:t>adapts suggestions to the user's current mood — happy, emotional, thrilling or relaxing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70C0"/>
                </a:solidFill>
                <a:latin typeface="Calibri" panose="020F0502020204030204"/>
              </a:rPr>
              <a:t>Time-Aware Recommendations: </a:t>
            </a:r>
            <a:r>
              <a:rPr lang="en-US" sz="1500" dirty="0">
                <a:latin typeface="Calibri" panose="020F0502020204030204"/>
              </a:rPr>
              <a:t>considers the user's available viewing time and recommends by runtime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70C0"/>
                </a:solidFill>
                <a:latin typeface="Calibri" panose="020F0502020204030204"/>
              </a:rPr>
              <a:t>Intelligent Ranking &amp; Explainability: </a:t>
            </a:r>
            <a:r>
              <a:rPr lang="en-US" sz="1500" dirty="0">
                <a:latin typeface="Calibri" panose="020F0502020204030204"/>
              </a:rPr>
              <a:t>ranks and re-ranks movies, with optional SHAP-based explanations for why a movie was recommended</a:t>
            </a:r>
          </a:p>
          <a:p>
            <a:pPr marL="228600" indent="-2286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70C0"/>
                </a:solidFill>
                <a:latin typeface="Calibri" panose="020F0502020204030204"/>
              </a:rPr>
              <a:t>Feedback &amp; Analytics: </a:t>
            </a:r>
            <a:r>
              <a:rPr lang="en-US" sz="1500" dirty="0">
                <a:latin typeface="Calibri" panose="020F0502020204030204"/>
              </a:rPr>
              <a:t>learns from user feedback and tracks relevance, diversity, novelty, serendipity and catalogue coverage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Content Box"/>
          <p:cNvSpPr txBox="1"/>
          <p:nvPr/>
        </p:nvSpPr>
        <p:spPr>
          <a:xfrm>
            <a:off x="706000" y="2250000"/>
            <a:ext cx="10780000" cy="4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700" dirty="0">
                <a:latin typeface="Calibri" panose="020F0502020204030204"/>
              </a:rPr>
              <a:t>Technical feasibility: built on open-source Python libraries (scikit-learn, Surprise/LightFM, pandas) and public datasets (MovieLens, TMDB) — no specialized hardware required.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700" dirty="0">
                <a:latin typeface="Calibri" panose="020F0502020204030204"/>
              </a:rPr>
              <a:t>Phase 1 – Data collection &amp; preprocessing: gather movie metadata and user interaction data; clean and structure it.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700" dirty="0">
                <a:latin typeface="Calibri" panose="020F0502020204030204"/>
              </a:rPr>
              <a:t>Phase 2 – Candidate generation: implement content-based and collaborative filtering models.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700" dirty="0">
                <a:latin typeface="Calibri" panose="020F0502020204030204"/>
              </a:rPr>
              <a:t>Phase 3 – Ranking &amp; re-ranking: build the scoring model and add novelty/diversity/serendipity/mood/time re-ranking.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700" dirty="0">
                <a:latin typeface="Calibri" panose="020F0502020204030204"/>
              </a:rPr>
              <a:t>Phase 4 – Explainability &amp; feedback: integrate SHAP-based explanations and a feedback-driven learning loop.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700" dirty="0">
                <a:latin typeface="Calibri" panose="020F0502020204030204"/>
              </a:rPr>
              <a:t>Phase 5 – Evaluation &amp; deployment: test with relevance, diversity, novelty, serendipity and coverage metrics, then package the system.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1D72D-D58F-A9D2-CA21-8A363D25A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7579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+mn-lt"/>
              </a:rPr>
              <a:t>                                   Project Flow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441579-5980-3DE3-6C1A-6C0784846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4440"/>
            <a:ext cx="12192000" cy="525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592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1189</Words>
  <Application>Microsoft Office PowerPoint</Application>
  <PresentationFormat>Widescreen</PresentationFormat>
  <Paragraphs>118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Project Flow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Sathvika Reddy</cp:lastModifiedBy>
  <cp:revision>34</cp:revision>
  <dcterms:created xsi:type="dcterms:W3CDTF">2026-08-08T06:33:56Z</dcterms:created>
  <dcterms:modified xsi:type="dcterms:W3CDTF">2026-09-24T05:46:06Z</dcterms:modified>
</cp:coreProperties>
</file>